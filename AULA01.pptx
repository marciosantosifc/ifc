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19.png" ContentType="image/png"/>
  <Override PartName="/ppt/media/image1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8882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mover o slide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97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38C6F8F0-EAE7-406A-ABA4-8F037D0AA0B6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EE22B6-FC08-470B-8DEA-7994540467BE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779C68-E7A2-4497-B6A1-1DEA016BA7F6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9EF707-440A-4369-BABD-5967B886FECC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E82AC27-513B-445E-B007-DE405A69C6A8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4A6EE8-CE7E-48EC-B031-A991393558BC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EEDF92-EB56-4DAF-9E95-F75E068CA369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4BDC363-1443-460F-BFDE-970AF27032E6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9A7C23-4D60-4A10-A22C-FDF1E2E83E36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2854A1-070F-4021-A025-84A51F1B0E34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C6E713-DEC2-464F-8691-6BF9CB94500D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613F99-E0CF-4CE1-A1CE-3071E0F8696D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EF54D4-1D69-470A-BA2F-7CE6CCA68853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43EDA3-78C7-4596-82D7-2E42901665B8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E3EF7C5-D793-437C-9676-963044C077CB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F0D44F2-A087-4DF9-9881-E1BF5BAB2922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E03A00-17DB-481A-B3CE-8B1F5BC6F912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18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Vantagens da CBSE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Redução de tempo de desenvolvimento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Aumento da qualidade do sistema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Facilidade de manutenção e evolução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600" spc="-1" strike="noStrike">
                <a:solidFill>
                  <a:srgbClr val="000000"/>
                </a:solidFill>
                <a:latin typeface="+mn-lt"/>
                <a:ea typeface="+mn-ea"/>
              </a:rPr>
              <a:t>Maior flexibilidade na composição de sistemas</a:t>
            </a:r>
            <a:endParaRPr b="0" lang="pt-BR" sz="16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pt-BR" sz="1600" spc="-1" strike="noStrike"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CEFFA2-CAFE-4845-A6D7-693D9F94BAD4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pt-BR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965581-4DDF-41B0-BB79-F0F93164A99C}" type="slidenum">
              <a:rPr b="0" lang="pt-BR" sz="12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2594F0-C3F9-46B3-A75D-4C960F580B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8678A0-657B-4BC3-A559-FC9285906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662A2A-6A5F-4559-956D-4E42D1B384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048CD89-3F05-434B-B649-36AB2F5DFC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30D0170-EE00-4382-BAE5-4F7C91DF56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1096920" y="2164320"/>
            <a:ext cx="1005480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B08655-3D15-4911-A4DA-8EC0B13B6B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9C0F186-5284-401B-A482-AD25860BD5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91C5F37-18E1-4231-B42A-051FB49B85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2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CD6C57B-0644-4DCF-A6E1-79DD19594C3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2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2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50DEB0-00DD-41A1-B03B-F602AA618D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2DC0C7-0BE1-48FA-9835-3E65D50E97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3FB02A-7485-48EF-B9F4-CC8E8C529C7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0E19C9B-3D05-413D-A91B-D4B32EE043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4D819D0-E12B-4A31-B691-0D2D5ECF21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2DE51CB-BB8F-436D-B963-9975898452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084A9B7-CF3F-4644-9157-EB48CB9BAD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DDCBB8-D0B4-43E9-8904-5660C15817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1096920" y="2164320"/>
            <a:ext cx="10054800" cy="1371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3F3E0D-FDFC-4B93-93AE-23C662C9BF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A29E640-965E-48BF-B6E9-BAC66B7FF1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6695ED-7C32-4686-8639-9E6167DB36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2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FDB37D-A078-49D7-9D00-BA50CB50EB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2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2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C0F62BC-E0ED-4781-BA59-EE04177A70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20E8610-4C4A-4A0E-BC2E-113D0B60181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1B06ECB-D009-4F75-B0D7-60FDEC2BECA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87800" cy="456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Rectangle 8" hidden="1"/>
          <p:cNvSpPr/>
          <p:nvPr/>
        </p:nvSpPr>
        <p:spPr>
          <a:xfrm>
            <a:off x="0" y="6334200"/>
            <a:ext cx="12187800" cy="6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Picture 2" descr=""/>
          <p:cNvPicPr/>
          <p:nvPr/>
        </p:nvPicPr>
        <p:blipFill>
          <a:blip r:embed="rId2"/>
          <a:stretch/>
        </p:blipFill>
        <p:spPr>
          <a:xfrm>
            <a:off x="72000" y="6359040"/>
            <a:ext cx="1412640" cy="474840"/>
          </a:xfrm>
          <a:prstGeom prst="rect">
            <a:avLst/>
          </a:prstGeom>
          <a:ln w="0">
            <a:noFill/>
          </a:ln>
        </p:spPr>
      </p:pic>
      <p:sp>
        <p:nvSpPr>
          <p:cNvPr id="3" name="Rectangle 6"/>
          <p:cNvSpPr/>
          <p:nvPr/>
        </p:nvSpPr>
        <p:spPr>
          <a:xfrm>
            <a:off x="3240" y="6400800"/>
            <a:ext cx="12184560" cy="456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7"/>
          <p:cNvSpPr/>
          <p:nvPr/>
        </p:nvSpPr>
        <p:spPr>
          <a:xfrm>
            <a:off x="0" y="6334200"/>
            <a:ext cx="1218456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Straight Connector 8"/>
          <p:cNvSpPr/>
          <p:nvPr/>
        </p:nvSpPr>
        <p:spPr>
          <a:xfrm>
            <a:off x="1207080" y="4343400"/>
            <a:ext cx="9873000" cy="360"/>
          </a:xfrm>
          <a:prstGeom prst="line">
            <a:avLst/>
          </a:prstGeom>
          <a:ln w="6350"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6" name="Picture 2" descr=""/>
          <p:cNvPicPr/>
          <p:nvPr/>
        </p:nvPicPr>
        <p:blipFill>
          <a:blip r:embed="rId3"/>
          <a:stretch/>
        </p:blipFill>
        <p:spPr>
          <a:xfrm>
            <a:off x="72000" y="6359040"/>
            <a:ext cx="1412640" cy="47484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latin typeface="Arial"/>
              </a:rPr>
              <a:t>Clique para editar o formato do texto do título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Clique para editar o formato do texto da estrutura de tópicos</a:t>
            </a:r>
            <a:endParaRPr b="0" lang="pt-BR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2.º nível da estrutura de tópicos</a:t>
            </a:r>
            <a:endParaRPr b="0" lang="pt-BR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3.º nível da estrutura de tópicos</a:t>
            </a:r>
            <a:endParaRPr b="0" lang="pt-BR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latin typeface="Arial"/>
              </a:rPr>
              <a:t>4.º nível da estrutura de tópicos</a:t>
            </a:r>
            <a:endParaRPr b="0" lang="pt-BR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5.º nível da estrutura de tópicos</a:t>
            </a:r>
            <a:endParaRPr b="0" lang="pt-BR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6.º nível da estrutura de tópicos</a:t>
            </a:r>
            <a:endParaRPr b="0" lang="pt-BR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latin typeface="Arial"/>
              </a:rPr>
              <a:t>7.º nível da estrutura de tópicos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1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&lt;rodapé&gt;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6E500A-BFA6-4030-9463-A0AC2EBAC8ED}" type="slidenum">
              <a:rPr b="0" lang="en-US" sz="1050" spc="-1" strike="noStrike">
                <a:solidFill>
                  <a:srgbClr val="ffffff"/>
                </a:solidFill>
                <a:latin typeface="Aptos"/>
              </a:rPr>
              <a:t>&lt;número&gt;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3"/>
          </p:nvPr>
        </p:nvSpPr>
        <p:spPr>
          <a:xfrm>
            <a:off x="1096920" y="6459840"/>
            <a:ext cx="247068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6"/>
          <p:cNvSpPr/>
          <p:nvPr/>
        </p:nvSpPr>
        <p:spPr>
          <a:xfrm>
            <a:off x="0" y="6400800"/>
            <a:ext cx="12187800" cy="456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Rectangle 8"/>
          <p:cNvSpPr/>
          <p:nvPr/>
        </p:nvSpPr>
        <p:spPr>
          <a:xfrm>
            <a:off x="0" y="6334200"/>
            <a:ext cx="12187800" cy="6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0" name="Picture 2" descr=""/>
          <p:cNvPicPr/>
          <p:nvPr/>
        </p:nvPicPr>
        <p:blipFill>
          <a:blip r:embed="rId2"/>
          <a:stretch/>
        </p:blipFill>
        <p:spPr>
          <a:xfrm>
            <a:off x="72000" y="6359040"/>
            <a:ext cx="1412640" cy="474840"/>
          </a:xfrm>
          <a:prstGeom prst="rect">
            <a:avLst/>
          </a:prstGeom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ftr" idx="4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&lt;rodapé&gt;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5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1C18303-8CA0-4613-87E9-E22090825E86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&lt;número&gt;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6"/>
          </p:nvPr>
        </p:nvSpPr>
        <p:spPr>
          <a:xfrm>
            <a:off x="1096920" y="6459840"/>
            <a:ext cx="247068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Clique para editar o formato do texto da estrutura de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2.º nível da estrutura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3.º nível da estrutura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4.º nível da estrutura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5.º nível da estrutura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6.º nível da estrutura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7.º nível da estrutura de tópicos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://localhost:5000/" TargetMode="External"/><Relationship Id="rId2" Type="http://schemas.openxmlformats.org/officeDocument/2006/relationships/hyperlink" Target="http://localhost:5000/" TargetMode="External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>
              <a:lnSpc>
                <a:spcPct val="85000"/>
              </a:lnSpc>
              <a:buNone/>
            </a:pPr>
            <a:br>
              <a:rPr sz="4400"/>
            </a:br>
            <a:r>
              <a:rPr b="1" lang="pt-BR" sz="4400" spc="-52" strike="noStrike">
                <a:solidFill>
                  <a:srgbClr val="262626"/>
                </a:solidFill>
                <a:latin typeface="Aptos Display"/>
              </a:rPr>
              <a:t>Introdução a Django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099800" y="4455720"/>
            <a:ext cx="100548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pt-BR" sz="2400" spc="194" strike="noStrike" u="sng" cap="all">
                <a:solidFill>
                  <a:srgbClr val="455f51"/>
                </a:solidFill>
                <a:uFillTx/>
                <a:latin typeface="Aptos Display"/>
              </a:rPr>
              <a:t>Técnico em </a:t>
            </a:r>
            <a:r>
              <a:rPr b="1" lang="pt-BR" sz="2400" spc="194" strike="noStrike" u="sng" cap="all">
                <a:solidFill>
                  <a:srgbClr val="455f51"/>
                </a:solidFill>
                <a:uFillTx/>
                <a:latin typeface="Aptos Display"/>
              </a:rPr>
              <a:t>informática para </a:t>
            </a:r>
            <a:r>
              <a:rPr b="1" lang="pt-BR" sz="2400" spc="194" strike="noStrike" u="sng" cap="all">
                <a:solidFill>
                  <a:srgbClr val="455f51"/>
                </a:solidFill>
                <a:uFillTx/>
                <a:latin typeface="Aptos Display"/>
              </a:rPr>
              <a:t>internet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500" spc="194" strike="noStrike">
                <a:solidFill>
                  <a:srgbClr val="455f51"/>
                </a:solidFill>
                <a:latin typeface="Aptos Display"/>
              </a:rPr>
              <a:t>Docente: Marcio Oliveira </a:t>
            </a:r>
            <a:r>
              <a:rPr b="0" lang="pt-BR" sz="2500" spc="194" strike="noStrike">
                <a:solidFill>
                  <a:srgbClr val="455f51"/>
                </a:solidFill>
                <a:latin typeface="Aptos Display"/>
              </a:rPr>
              <a:t>dos Santos</a:t>
            </a:r>
            <a:endParaRPr b="0" lang="pt-BR" sz="2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500" spc="194" strike="noStrike">
                <a:solidFill>
                  <a:srgbClr val="455f51"/>
                </a:solidFill>
                <a:latin typeface="Aptos Display"/>
              </a:rPr>
              <a:t>E-mail: </a:t>
            </a:r>
            <a:r>
              <a:rPr b="0" lang="pt-BR" sz="2500" spc="194" strike="noStrike">
                <a:solidFill>
                  <a:srgbClr val="455f51"/>
                </a:solidFill>
                <a:latin typeface="Aptos Display"/>
              </a:rPr>
              <a:t>marcio.santos@ifc.edu.br</a:t>
            </a:r>
            <a:endParaRPr b="0" lang="pt-BR" sz="2500" spc="-1" strike="noStrike">
              <a:latin typeface="Arial"/>
            </a:endParaRPr>
          </a:p>
        </p:txBody>
      </p:sp>
      <p:pic>
        <p:nvPicPr>
          <p:cNvPr id="100" name="Picture 2" descr=""/>
          <p:cNvPicPr/>
          <p:nvPr/>
        </p:nvPicPr>
        <p:blipFill>
          <a:blip r:embed="rId1"/>
          <a:stretch/>
        </p:blipFill>
        <p:spPr>
          <a:xfrm>
            <a:off x="9910800" y="332640"/>
            <a:ext cx="2122920" cy="285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Preparação do Ambiente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ftr" idx="10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1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CE08B2-B601-4FE1-AA1C-A5ECDF23D2F1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20000" y="1250280"/>
            <a:ext cx="9539640" cy="54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1. Criar e </a:t>
            </a:r>
            <a:r>
              <a:rPr b="0" lang="pt-BR" sz="1800" spc="-1" strike="noStrike">
                <a:latin typeface="Arial"/>
              </a:rPr>
              <a:t>acessar a </a:t>
            </a:r>
            <a:r>
              <a:rPr b="0" lang="pt-BR" sz="1800" spc="-1" strike="noStrike">
                <a:latin typeface="Arial"/>
              </a:rPr>
              <a:t>pasta do </a:t>
            </a:r>
            <a:r>
              <a:rPr b="0" lang="pt-BR" sz="1800" spc="-1" strike="noStrike">
                <a:latin typeface="Arial"/>
              </a:rPr>
              <a:t>projeto, no </a:t>
            </a:r>
            <a:r>
              <a:rPr b="0" lang="pt-BR" sz="1800" spc="-1" strike="noStrike">
                <a:latin typeface="Arial"/>
              </a:rPr>
              <a:t>meu caso , </a:t>
            </a:r>
            <a:r>
              <a:rPr b="0" lang="pt-BR" sz="1800" spc="-1" strike="noStrike">
                <a:latin typeface="Arial"/>
              </a:rPr>
              <a:t>nomeie </a:t>
            </a:r>
            <a:r>
              <a:rPr b="0" lang="pt-BR" sz="1800" spc="-1" strike="noStrike">
                <a:latin typeface="Arial"/>
              </a:rPr>
              <a:t>com DW3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Verificar </a:t>
            </a:r>
            <a:r>
              <a:rPr b="0" lang="pt-BR" sz="1800" spc="-1" strike="noStrike">
                <a:latin typeface="Arial"/>
              </a:rPr>
              <a:t>a versão </a:t>
            </a:r>
            <a:r>
              <a:rPr b="0" lang="pt-BR" sz="1800" spc="-1" strike="noStrike">
                <a:latin typeface="Arial"/>
              </a:rPr>
              <a:t>do python </a:t>
            </a:r>
            <a:r>
              <a:rPr b="0" lang="pt-BR" sz="1800" spc="-1" strike="noStrike">
                <a:latin typeface="Arial"/>
              </a:rPr>
              <a:t>e </a:t>
            </a:r>
            <a:r>
              <a:rPr b="0" lang="pt-BR" sz="1800" spc="-1" strike="noStrike">
                <a:latin typeface="Arial"/>
              </a:rPr>
              <a:t>virtualenv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0" y="2340000"/>
            <a:ext cx="12188520" cy="39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80000" y="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Preparação do Ambiente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ftr" idx="12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13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E23FDC-559F-42E5-A978-5F7B2D3BFB97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720000" y="1250280"/>
            <a:ext cx="9539640" cy="54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1. Criar o ambiente virtualvenv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2. No windows: venv/Scripts/Activate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0" y="1836000"/>
            <a:ext cx="12188880" cy="334800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0" y="5220000"/>
            <a:ext cx="12188880" cy="1287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Preparação do Ambiente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ftr" idx="14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15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ACE5A7C-0BAB-4A44-82FC-CA89AF3F4D6F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20000" y="1250280"/>
            <a:ext cx="9539640" cy="54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1. Instalação do Django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0" y="1980000"/>
            <a:ext cx="12188520" cy="449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Inici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and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o o 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proj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eto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ftr" idx="16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7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6C54C20-8987-42B4-8827-047C456DFB51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720000" y="1250280"/>
            <a:ext cx="9539640" cy="54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1. Boa prática: Verificar as dependências  e apontar para o arquivo requirements.txt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2. Comandos do django: django-admin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165600" y="2093400"/>
            <a:ext cx="11534400" cy="330660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180000" y="3960000"/>
            <a:ext cx="11520000" cy="67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Meu primeiro projeto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ftr" idx="18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19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D22D98-C781-4925-A5C9-C47D81397F7E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720000" y="1250280"/>
            <a:ext cx="9539640" cy="54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1</a:t>
            </a:r>
            <a:r>
              <a:rPr b="0" lang="pt-BR" sz="1800" spc="-1" strike="noStrike">
                <a:latin typeface="Arial"/>
              </a:rPr>
              <a:t>.</a:t>
            </a:r>
            <a:r>
              <a:rPr b="0" lang="pt-BR" sz="1800" spc="-1" strike="noStrike">
                <a:latin typeface="Arial"/>
              </a:rPr>
              <a:t> </a:t>
            </a:r>
            <a:r>
              <a:rPr b="0" lang="pt-BR" sz="1800" spc="-1" strike="noStrike">
                <a:latin typeface="Arial"/>
              </a:rPr>
              <a:t>d</a:t>
            </a:r>
            <a:r>
              <a:rPr b="0" lang="pt-BR" sz="1800" spc="-1" strike="noStrike">
                <a:latin typeface="Arial"/>
              </a:rPr>
              <a:t>j</a:t>
            </a:r>
            <a:r>
              <a:rPr b="0" lang="pt-BR" sz="1800" spc="-1" strike="noStrike">
                <a:latin typeface="Arial"/>
              </a:rPr>
              <a:t>a</a:t>
            </a:r>
            <a:r>
              <a:rPr b="0" lang="pt-BR" sz="1800" spc="-1" strike="noStrike">
                <a:latin typeface="Arial"/>
              </a:rPr>
              <a:t>n</a:t>
            </a:r>
            <a:r>
              <a:rPr b="0" lang="pt-BR" sz="1800" spc="-1" strike="noStrike">
                <a:latin typeface="Arial"/>
              </a:rPr>
              <a:t>g</a:t>
            </a:r>
            <a:r>
              <a:rPr b="0" lang="pt-BR" sz="1800" spc="-1" strike="noStrike">
                <a:latin typeface="Arial"/>
              </a:rPr>
              <a:t>o</a:t>
            </a:r>
            <a:r>
              <a:rPr b="0" lang="pt-BR" sz="1800" spc="-1" strike="noStrike">
                <a:latin typeface="Arial"/>
              </a:rPr>
              <a:t>-</a:t>
            </a:r>
            <a:r>
              <a:rPr b="0" lang="pt-BR" sz="1800" spc="-1" strike="noStrike">
                <a:latin typeface="Arial"/>
              </a:rPr>
              <a:t>a</a:t>
            </a:r>
            <a:r>
              <a:rPr b="0" lang="pt-BR" sz="1800" spc="-1" strike="noStrike">
                <a:latin typeface="Arial"/>
              </a:rPr>
              <a:t>d</a:t>
            </a:r>
            <a:r>
              <a:rPr b="0" lang="pt-BR" sz="1800" spc="-1" strike="noStrike">
                <a:latin typeface="Arial"/>
              </a:rPr>
              <a:t>m</a:t>
            </a:r>
            <a:r>
              <a:rPr b="0" lang="pt-BR" sz="1800" spc="-1" strike="noStrike">
                <a:latin typeface="Arial"/>
              </a:rPr>
              <a:t>i</a:t>
            </a:r>
            <a:r>
              <a:rPr b="0" lang="pt-BR" sz="1800" spc="-1" strike="noStrike">
                <a:latin typeface="Arial"/>
              </a:rPr>
              <a:t>n</a:t>
            </a:r>
            <a:r>
              <a:rPr b="0" lang="pt-BR" sz="1800" spc="-1" strike="noStrike">
                <a:latin typeface="Arial"/>
              </a:rPr>
              <a:t> </a:t>
            </a:r>
            <a:r>
              <a:rPr b="0" lang="pt-BR" sz="1800" spc="-1" strike="noStrike">
                <a:latin typeface="Arial"/>
              </a:rPr>
              <a:t>s</a:t>
            </a:r>
            <a:r>
              <a:rPr b="0" lang="pt-BR" sz="1800" spc="-1" strike="noStrike">
                <a:latin typeface="Arial"/>
              </a:rPr>
              <a:t>t</a:t>
            </a:r>
            <a:r>
              <a:rPr b="0" lang="pt-BR" sz="1800" spc="-1" strike="noStrike">
                <a:latin typeface="Arial"/>
              </a:rPr>
              <a:t>a</a:t>
            </a:r>
            <a:r>
              <a:rPr b="0" lang="pt-BR" sz="1800" spc="-1" strike="noStrike">
                <a:latin typeface="Arial"/>
              </a:rPr>
              <a:t>r</a:t>
            </a:r>
            <a:r>
              <a:rPr b="0" lang="pt-BR" sz="1800" spc="-1" strike="noStrike">
                <a:latin typeface="Arial"/>
              </a:rPr>
              <a:t>t</a:t>
            </a:r>
            <a:r>
              <a:rPr b="0" lang="pt-BR" sz="1800" spc="-1" strike="noStrike">
                <a:latin typeface="Arial"/>
              </a:rPr>
              <a:t>p</a:t>
            </a:r>
            <a:r>
              <a:rPr b="0" lang="pt-BR" sz="1800" spc="-1" strike="noStrike">
                <a:latin typeface="Arial"/>
              </a:rPr>
              <a:t>r</a:t>
            </a:r>
            <a:r>
              <a:rPr b="0" lang="pt-BR" sz="1800" spc="-1" strike="noStrike">
                <a:latin typeface="Arial"/>
              </a:rPr>
              <a:t>o</a:t>
            </a:r>
            <a:r>
              <a:rPr b="0" lang="pt-BR" sz="1800" spc="-1" strike="noStrike">
                <a:latin typeface="Arial"/>
              </a:rPr>
              <a:t>j</a:t>
            </a:r>
            <a:r>
              <a:rPr b="0" lang="pt-BR" sz="1800" spc="-1" strike="noStrike">
                <a:latin typeface="Arial"/>
              </a:rPr>
              <a:t>e</a:t>
            </a:r>
            <a:r>
              <a:rPr b="0" lang="pt-BR" sz="1800" spc="-1" strike="noStrike">
                <a:latin typeface="Arial"/>
              </a:rPr>
              <a:t>c</a:t>
            </a:r>
            <a:r>
              <a:rPr b="0" lang="pt-BR" sz="1800" spc="-1" strike="noStrike">
                <a:latin typeface="Arial"/>
              </a:rPr>
              <a:t>t</a:t>
            </a:r>
            <a:r>
              <a:rPr b="0" lang="pt-BR" sz="1800" spc="-1" strike="noStrike">
                <a:latin typeface="Arial"/>
              </a:rPr>
              <a:t> </a:t>
            </a:r>
            <a:r>
              <a:rPr b="0" lang="pt-BR" sz="1800" spc="-1" strike="noStrike">
                <a:latin typeface="Arial"/>
              </a:rPr>
              <a:t>c</a:t>
            </a:r>
            <a:r>
              <a:rPr b="0" lang="pt-BR" sz="1800" spc="-1" strike="noStrike">
                <a:latin typeface="Arial"/>
              </a:rPr>
              <a:t>o</a:t>
            </a:r>
            <a:r>
              <a:rPr b="0" lang="pt-BR" sz="1800" spc="-1" strike="noStrike">
                <a:latin typeface="Arial"/>
              </a:rPr>
              <a:t>n</a:t>
            </a:r>
            <a:r>
              <a:rPr b="0" lang="pt-BR" sz="1800" spc="-1" strike="noStrike">
                <a:latin typeface="Arial"/>
              </a:rPr>
              <a:t>f</a:t>
            </a:r>
            <a:r>
              <a:rPr b="0" lang="pt-BR" sz="1800" spc="-1" strike="noStrike">
                <a:latin typeface="Arial"/>
              </a:rPr>
              <a:t>i</a:t>
            </a:r>
            <a:r>
              <a:rPr b="0" lang="pt-BR" sz="1800" spc="-1" strike="noStrike">
                <a:latin typeface="Arial"/>
              </a:rPr>
              <a:t>g</a:t>
            </a:r>
            <a:r>
              <a:rPr b="0" lang="pt-BR" sz="1800" spc="-1" strike="noStrike">
                <a:latin typeface="Arial"/>
              </a:rPr>
              <a:t> </a:t>
            </a:r>
            <a:r>
              <a:rPr b="0" lang="pt-BR" sz="1800" spc="-1" strike="noStrike">
                <a:latin typeface="Arial"/>
              </a:rPr>
              <a:t>.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25200" y="1620000"/>
            <a:ext cx="12188520" cy="46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105200" y="11268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Exe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cuç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ão 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do 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serv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idor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ftr" idx="20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21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171407-6B9B-4599-87A8-D1E28E5C1E85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pic>
        <p:nvPicPr>
          <p:cNvPr id="131" name="" descr=""/>
          <p:cNvPicPr/>
          <p:nvPr/>
        </p:nvPicPr>
        <p:blipFill>
          <a:blip r:embed="rId1"/>
          <a:stretch/>
        </p:blipFill>
        <p:spPr>
          <a:xfrm>
            <a:off x="25200" y="1080000"/>
            <a:ext cx="12188520" cy="52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105200" y="11268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Configurações adicionais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22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23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572F12-A669-4377-AAC7-6BEF2E91FC65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0" y="1705320"/>
            <a:ext cx="12188520" cy="459468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 txBox="1"/>
          <p:nvPr/>
        </p:nvSpPr>
        <p:spPr>
          <a:xfrm>
            <a:off x="305640" y="1260000"/>
            <a:ext cx="473436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latin typeface="Arial"/>
              </a:rPr>
              <a:t># Não enviar com a senha do SECRET_KEY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105200" y="11268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Configurações adicionais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ftr" idx="24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25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02863B-7BCA-46EE-B24C-A56DB1C2C535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25200" y="1298160"/>
            <a:ext cx="12188520" cy="4281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105200" y="11268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Configurações adicionais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ftr" idx="26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27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906FF5-6D10-480A-A75F-CF46A1461337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360" y="1800000"/>
            <a:ext cx="12239640" cy="450000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 txBox="1"/>
          <p:nvPr/>
        </p:nvSpPr>
        <p:spPr>
          <a:xfrm>
            <a:off x="318960" y="1080000"/>
            <a:ext cx="454104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latin typeface="Arial"/>
              </a:rPr>
              <a:t>Criar o arquivo .env – fora do config</a:t>
            </a:r>
            <a:endParaRPr b="0" lang="pt-BR" sz="1800" spc="-1" strike="noStrike">
              <a:latin typeface="Arial"/>
            </a:endParaRPr>
          </a:p>
          <a:p>
            <a:r>
              <a:rPr b="0" lang="pt-BR" sz="1800" spc="-1" strike="noStrike">
                <a:latin typeface="Arial"/>
              </a:rPr>
              <a:t>Copiar a SECRET_KEY --- retirar as aspas</a:t>
            </a: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105200" y="11268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Configurações adicionais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ftr" idx="28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Técnico em informática para internet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29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56BFB6-A41F-442C-9161-D0A60E274396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18960" y="1080000"/>
            <a:ext cx="454104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latin typeface="Arial"/>
              </a:rPr>
              <a:t>Criar o arquivo .env – fora do config</a:t>
            </a:r>
            <a:endParaRPr b="0" lang="pt-BR" sz="1800" spc="-1" strike="noStrike">
              <a:latin typeface="Arial"/>
            </a:endParaRPr>
          </a:p>
          <a:p>
            <a:r>
              <a:rPr b="0" lang="pt-BR" sz="1800" spc="-1" strike="noStrike">
                <a:latin typeface="Arial"/>
              </a:rPr>
              <a:t>Copiar a SECRET_KEY --- retirar as aspas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0" y="1108440"/>
            <a:ext cx="12188520" cy="519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ftr" idx="30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MINICURSO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Num" idx="31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8A284B-8660-426F-94BB-CD5185434268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20000" y="1260000"/>
            <a:ext cx="9539640" cy="48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  <p:pic>
        <p:nvPicPr>
          <p:cNvPr id="154" name="" descr=""/>
          <p:cNvPicPr/>
          <p:nvPr/>
        </p:nvPicPr>
        <p:blipFill>
          <a:blip r:embed="rId1"/>
          <a:stretch/>
        </p:blipFill>
        <p:spPr>
          <a:xfrm>
            <a:off x="44280" y="-176760"/>
            <a:ext cx="11475720" cy="647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Preparação / </a:t>
            </a: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Envio GitHub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ftr" idx="32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MINICURSO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33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BEED77-BB59-4069-A925-94019D09CA56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720000" y="1260000"/>
            <a:ext cx="9539640" cy="52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25200" y="1260000"/>
            <a:ext cx="11674800" cy="546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Prática - 02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ftr" idx="34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MINICURSO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35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444DDA-151C-40C2-A5A4-E723A1FD8350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720000" y="1260000"/>
            <a:ext cx="9539640" cy="59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Criar o arquivo requirements.txt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nano requirements.txt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#Inserir a informação abaixo: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flask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psycopg2-binary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Criar o arquivo Dockerfile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nano Dockerfile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Imagem base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FROM python:3.10-slim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Diretório de trabalho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WORKDIR /app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Copiar arquivos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COPY requirements.txt .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RUN pip install --no-cache-dir -r requirements.txt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COPY . .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Rodar o app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CMD ["python", "app.py"]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Prática - 02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ftr" idx="36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MINICURSO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37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7024BB-DD7F-48D8-9622-CA9519A83579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720000" y="1260000"/>
            <a:ext cx="9539640" cy="64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Voltar para o diretório anterior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cd ..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nano docker-compose.yml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version: '3.8'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services: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</a:t>
            </a:r>
            <a:r>
              <a:rPr b="0" lang="pt-BR" sz="1800" spc="-1" strike="noStrike">
                <a:latin typeface="Arial"/>
              </a:rPr>
              <a:t>web: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build: ./app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container_name: flask_app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ports: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"5000:5000"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environment: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DB_HOST=db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DB_NAME=meubanco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DB_USER=postgres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DB_PASS=123456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depends_on: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db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Prática - 02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ftr" idx="38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MINICURSO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39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C0ACEFA-7F05-434F-BC75-69A380D33C4E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20000" y="1260000"/>
            <a:ext cx="9539640" cy="520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Continuação ….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</a:t>
            </a:r>
            <a:r>
              <a:rPr b="0" lang="pt-BR" sz="1800" spc="-1" strike="noStrike">
                <a:latin typeface="Arial"/>
              </a:rPr>
              <a:t>db: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image: postgres:15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container_name: postgres_db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environment: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POSTGRES_DB=meubanco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POSTGRES_USER=postgres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POSTGRES_PASSWORD=123456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</a:t>
            </a:r>
            <a:r>
              <a:rPr b="0" lang="pt-BR" sz="1800" spc="-1" strike="noStrike">
                <a:latin typeface="Arial"/>
              </a:rPr>
              <a:t>volumes: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    </a:t>
            </a:r>
            <a:r>
              <a:rPr b="0" lang="pt-BR" sz="1800" spc="-1" strike="noStrike">
                <a:latin typeface="Arial"/>
              </a:rPr>
              <a:t>- pgdata:/var/lib/postgresql/data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volumes: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</a:t>
            </a:r>
            <a:r>
              <a:rPr b="0" lang="pt-BR" sz="1800" spc="-1" strike="noStrike">
                <a:latin typeface="Arial"/>
              </a:rPr>
              <a:t>pgdata: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096920" y="286560"/>
            <a:ext cx="10054800" cy="96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algn="ctr">
              <a:lnSpc>
                <a:spcPct val="85000"/>
              </a:lnSpc>
              <a:buNone/>
            </a:pPr>
            <a:r>
              <a:rPr b="1" lang="pt-BR" sz="3600" spc="-52" strike="noStrike">
                <a:solidFill>
                  <a:srgbClr val="404040"/>
                </a:solidFill>
                <a:latin typeface="Aptos Display"/>
              </a:rPr>
              <a:t>Prática - 02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ftr" idx="40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pt-BR" sz="900" spc="-1" strike="noStrike" cap="all">
                <a:solidFill>
                  <a:srgbClr val="ffffff"/>
                </a:solidFill>
                <a:latin typeface="Apto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pt-BR" sz="900" spc="-1" strike="noStrike" cap="all">
                <a:solidFill>
                  <a:srgbClr val="ffffff"/>
                </a:solidFill>
                <a:latin typeface="Aptos"/>
              </a:rPr>
              <a:t>MINICURSO</a:t>
            </a:r>
            <a:endParaRPr b="0" lang="pt-BR" sz="900" spc="-1" strike="noStrike">
              <a:latin typeface="Times New Roman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1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pt-BR" sz="1050" spc="-1" strike="noStrike">
                <a:solidFill>
                  <a:srgbClr val="ffffff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3C6308-F3D0-4A43-A2E4-BFD207EA1B9A}" type="slidenum">
              <a:rPr b="0" lang="pt-BR" sz="1050" spc="-1" strike="noStrike">
                <a:solidFill>
                  <a:srgbClr val="ffffff"/>
                </a:solidFill>
                <a:latin typeface="Aptos"/>
              </a:rPr>
              <a:t>1</a:t>
            </a:fld>
            <a:endParaRPr b="0" lang="pt-BR" sz="1050" spc="-1" strike="noStrike"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720000" y="1260000"/>
            <a:ext cx="9539640" cy="495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Execute na pasta raiz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Docker-compose up –build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</a:t>
            </a:r>
            <a:r>
              <a:rPr b="0" lang="pt-BR" sz="1800" spc="-1" strike="noStrike" u="sng">
                <a:solidFill>
                  <a:srgbClr val="6b9f25"/>
                </a:solidFill>
                <a:uFillTx/>
                <a:latin typeface="Arial"/>
                <a:hlinkClick r:id="rId1"/>
              </a:rPr>
              <a:t>http://localhost:5000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# </a:t>
            </a:r>
            <a:r>
              <a:rPr b="0" lang="pt-BR" sz="1800" spc="-1" strike="noStrike" u="sng">
                <a:solidFill>
                  <a:srgbClr val="6b9f25"/>
                </a:solidFill>
                <a:uFillTx/>
                <a:latin typeface="Arial"/>
                <a:hlinkClick r:id="rId2"/>
              </a:rPr>
              <a:t>http://localhost:5000</a:t>
            </a:r>
            <a:r>
              <a:rPr b="0" lang="pt-BR" sz="1800" spc="-1" strike="noStrike">
                <a:latin typeface="Arial"/>
              </a:rPr>
              <a:t>/db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docker login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ocker images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docker tag flask-postgres-docker-ifc marsantos/flask-postgres-docker-ifc:1.0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docker push marsantos/flask-postgres-docker-ifc:1.0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1800" spc="-1" strike="noStrike">
                <a:latin typeface="Arial"/>
              </a:rPr>
              <a:t>  </a:t>
            </a: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096920" y="758880"/>
            <a:ext cx="10054800" cy="356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>
              <a:lnSpc>
                <a:spcPct val="85000"/>
              </a:lnSpc>
              <a:buNone/>
            </a:pPr>
            <a:br>
              <a:rPr sz="4400"/>
            </a:br>
            <a:r>
              <a:rPr b="1" lang="pt-BR" sz="4400" spc="-52" strike="noStrike">
                <a:solidFill>
                  <a:srgbClr val="262626"/>
                </a:solidFill>
                <a:latin typeface="Aptos Display"/>
              </a:rPr>
              <a:t>Introdução ao Django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1099800" y="4455720"/>
            <a:ext cx="100548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0000"/>
          </a:bodyPr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1" lang="pt-BR" sz="2400" spc="194" strike="noStrike" u="sng" cap="all">
                <a:solidFill>
                  <a:srgbClr val="455f51"/>
                </a:solidFill>
                <a:uFillTx/>
                <a:latin typeface="Aptos Display"/>
              </a:rPr>
              <a:t>Técnico em informática para internet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500" spc="194" strike="noStrike">
                <a:solidFill>
                  <a:srgbClr val="455f51"/>
                </a:solidFill>
                <a:latin typeface="Aptos Display"/>
              </a:rPr>
              <a:t>Instrutor: Marcio Oliveira dos Santos</a:t>
            </a:r>
            <a:endParaRPr b="0" lang="pt-BR" sz="2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pt-BR" sz="2500" spc="194" strike="noStrike">
                <a:solidFill>
                  <a:srgbClr val="455f51"/>
                </a:solidFill>
                <a:latin typeface="Aptos Display"/>
              </a:rPr>
              <a:t>E-mail: marcio.santos@ifc.edu.br</a:t>
            </a:r>
            <a:endParaRPr b="0" lang="pt-BR" sz="2500" spc="-1" strike="noStrike">
              <a:latin typeface="Arial"/>
            </a:endParaRPr>
          </a:p>
        </p:txBody>
      </p:sp>
      <p:pic>
        <p:nvPicPr>
          <p:cNvPr id="178" name="Picture 3" descr=""/>
          <p:cNvPicPr/>
          <p:nvPr/>
        </p:nvPicPr>
        <p:blipFill>
          <a:blip r:embed="rId1"/>
          <a:stretch/>
        </p:blipFill>
        <p:spPr>
          <a:xfrm>
            <a:off x="9910800" y="332640"/>
            <a:ext cx="2122920" cy="2856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01D382-32B0-43EE-932C-28906AF37617}">
  <ds:schemaRefs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microsoft.com/office/2006/documentManagement/types"/>
    <ds:schemaRef ds:uri="4873beb7-5857-4685-be1f-d57550cc96cc"/>
  </ds:schemaRefs>
</ds:datastoreItem>
</file>

<file path=customXml/itemProps3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Cacho</Template>
  <TotalTime>12753</TotalTime>
  <Application>LibreOffice/7.3.7.2$Linux_X86_64 LibreOffice_project/30$Build-2</Application>
  <AppVersion>15.0000</AppVersion>
  <Words>2270</Words>
  <Paragraphs>246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2024-06-06T20:19:07Z</dcterms:created>
  <dc:creator>Renato Castro</dc:creator>
  <dc:description/>
  <dc:language>pt-BR</dc:language>
  <cp:lastModifiedBy/>
  <dcterms:modified xsi:type="dcterms:W3CDTF">2026-03-01T06:50:21Z</dcterms:modified>
  <cp:revision>793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mpaign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InternalTags">
    <vt:lpwstr/>
  </property>
  <property fmtid="{D5CDD505-2E9C-101B-9397-08002B2CF9AE}" pid="6" name="LocalizationTags">
    <vt:lpwstr/>
  </property>
  <property fmtid="{D5CDD505-2E9C-101B-9397-08002B2CF9AE}" pid="7" name="Notes">
    <vt:i4>12</vt:i4>
  </property>
  <property fmtid="{D5CDD505-2E9C-101B-9397-08002B2CF9AE}" pid="8" name="PresentationFormat">
    <vt:lpwstr>Personalizar</vt:lpwstr>
  </property>
  <property fmtid="{D5CDD505-2E9C-101B-9397-08002B2CF9AE}" pid="9" name="ScenarioTags">
    <vt:lpwstr/>
  </property>
  <property fmtid="{D5CDD505-2E9C-101B-9397-08002B2CF9AE}" pid="10" name="Slides">
    <vt:i4>17</vt:i4>
  </property>
</Properties>
</file>